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Relationship Id="rId3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1032510" y="4516336"/>
            <a:ext cx="5718492" cy="46762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74608" y="1097991"/>
            <a:ext cx="4175591" cy="3686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0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ff0000"/>
                </a:solidFill>
                <a:latin typeface="Cambria Math"/>
                <a:cs typeface="Cambria Math"/>
              </a:rPr>
              <a:t>Hardware-Based</a:t>
            </a:r>
            <a:r>
              <a:rPr dirty="0" sz="26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ff0000"/>
                </a:solidFill>
                <a:latin typeface="Cambria Math"/>
                <a:cs typeface="Cambria Math"/>
              </a:rPr>
              <a:t>Encryption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000" y="1701102"/>
            <a:ext cx="1082926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What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Is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It?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3000" y="2154759"/>
            <a:ext cx="5636094" cy="1063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Hardware-based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physical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component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such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as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chip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dedicated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device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decrypt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data.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It</a:t>
            </a:r>
          </a:p>
          <a:p>
            <a:pPr marL="0" marR="0">
              <a:lnSpc>
                <a:spcPts val="1601"/>
              </a:lnSpc>
              <a:spcBef>
                <a:spcPts val="5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functions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like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lock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that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only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works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with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specific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physical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rather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than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relying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alone.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000" y="3326766"/>
            <a:ext cx="5525148" cy="1063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Unlike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which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depends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computer’s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processor,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this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method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separate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unit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designed</a:t>
            </a:r>
          </a:p>
          <a:p>
            <a:pPr marL="0" marR="0">
              <a:lnSpc>
                <a:spcPts val="1601"/>
              </a:lnSpc>
              <a:spcBef>
                <a:spcPts val="5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specifically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cryptographic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tasks.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This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separation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improves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both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performance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security.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3000" y="4641647"/>
            <a:ext cx="2832950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How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It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Works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In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Plain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Words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3000" y="5187379"/>
            <a:ext cx="4456112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performs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all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operations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3000" y="5461331"/>
            <a:ext cx="5434193" cy="1063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independently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from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main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system.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are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stored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inside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device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itself,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not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computer.</a:t>
            </a:r>
          </a:p>
          <a:p>
            <a:pPr marL="0" marR="0">
              <a:lnSpc>
                <a:spcPts val="1601"/>
              </a:lnSpc>
              <a:spcBef>
                <a:spcPts val="5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If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malware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infects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system,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accessing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these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remains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difficult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because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isolated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from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operating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system.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3000" y="6684137"/>
            <a:ext cx="2152434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Two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Popular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Examples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3000" y="7137794"/>
            <a:ext cx="3154078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1.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TPM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(Trusted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Platform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Module)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13510" y="7556619"/>
            <a:ext cx="4192359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small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chip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often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built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your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computer’s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93215" y="7891590"/>
            <a:ext cx="1350076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motherboard.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13510" y="8206910"/>
            <a:ext cx="3128279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Stores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securely.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13510" y="8583249"/>
            <a:ext cx="2059974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things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like: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725" y="914392"/>
            <a:ext cx="4154445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Secure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boot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(checks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if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your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system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been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3429" y="1249363"/>
            <a:ext cx="1521163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tampered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with)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63725" y="1564682"/>
            <a:ext cx="4618337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Full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disk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(like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BitLocker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Windows)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3000" y="1975853"/>
            <a:ext cx="1347149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Cool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features: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000" y="2291174"/>
            <a:ext cx="4556151" cy="14561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051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Creates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safely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inside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chip</a:t>
            </a:r>
          </a:p>
          <a:p>
            <a:pPr marL="270510" marR="0">
              <a:lnSpc>
                <a:spcPts val="2128"/>
              </a:lnSpc>
              <a:spcBef>
                <a:spcPts val="88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Protects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sensitive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data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from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attacks</a:t>
            </a:r>
          </a:p>
          <a:p>
            <a:pPr marL="270510" marR="0">
              <a:lnSpc>
                <a:spcPts val="2128"/>
              </a:lnSpc>
              <a:spcBef>
                <a:spcPts val="88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Verifies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your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system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hasn’t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been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messed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with</a:t>
            </a:r>
          </a:p>
          <a:p>
            <a:pPr marL="0" marR="0">
              <a:lnSpc>
                <a:spcPts val="1601"/>
              </a:lnSpc>
              <a:spcBef>
                <a:spcPts val="1509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2.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HSM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(Hardware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Security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Module)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13510" y="3924648"/>
            <a:ext cx="5316867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more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powerful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device,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often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big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companies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93215" y="4259619"/>
            <a:ext cx="711825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banks.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3510" y="4574938"/>
            <a:ext cx="4046134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Handles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lots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of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tasks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really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fast.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13510" y="4951277"/>
            <a:ext cx="4943604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Built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resist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physical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tampering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(if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someone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tries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93215" y="5286248"/>
            <a:ext cx="3537727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open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it,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self-destructs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wipes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data).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3000" y="5636400"/>
            <a:ext cx="1347149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Cool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features: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43000" y="5951720"/>
            <a:ext cx="4954613" cy="14561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051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Super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fast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cryptographic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processing</a:t>
            </a:r>
          </a:p>
          <a:p>
            <a:pPr marL="270510" marR="0">
              <a:lnSpc>
                <a:spcPts val="2128"/>
              </a:lnSpc>
              <a:spcBef>
                <a:spcPts val="88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break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even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if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someone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physical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access</a:t>
            </a:r>
          </a:p>
          <a:p>
            <a:pPr marL="270510" marR="0">
              <a:lnSpc>
                <a:spcPts val="2128"/>
              </a:lnSpc>
              <a:spcBef>
                <a:spcPts val="88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Manages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creation,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deletion</a:t>
            </a:r>
          </a:p>
          <a:p>
            <a:pPr marL="0" marR="0">
              <a:lnSpc>
                <a:spcPts val="1601"/>
              </a:lnSpc>
              <a:spcBef>
                <a:spcPts val="1509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Why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It’s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Awesome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(Advantages)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13510" y="7585194"/>
            <a:ext cx="4972310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Strong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isolation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happens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away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from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93215" y="7920165"/>
            <a:ext cx="3695411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your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main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OS,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malware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can’t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spy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it.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13510" y="8235485"/>
            <a:ext cx="5071894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Faster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Dedicated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does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job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quicker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than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93215" y="8570456"/>
            <a:ext cx="959322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1141095" y="4903990"/>
            <a:ext cx="5502274" cy="311781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13510" y="914392"/>
            <a:ext cx="4441968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Safer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storage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never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leave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device.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3510" y="1290731"/>
            <a:ext cx="5355294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Resistant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attacks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Even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keyloggers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rootkits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struggle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93215" y="1625702"/>
            <a:ext cx="898363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get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000" y="2300605"/>
            <a:ext cx="2314659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Downsides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(Limitations)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13510" y="2719431"/>
            <a:ext cx="3873211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More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expensive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than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just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13510" y="3095769"/>
            <a:ext cx="4733560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Less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flexible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update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change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once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built.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3510" y="3472109"/>
            <a:ext cx="5188972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Needs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compatible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Not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every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computer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93215" y="3807080"/>
            <a:ext cx="1283020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TPM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HSM.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3000" y="4481983"/>
            <a:ext cx="5094855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Hardware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vs.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Software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Quick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Comparison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9195" y="4976915"/>
            <a:ext cx="823933" cy="7122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Feature</a:t>
            </a:r>
          </a:p>
          <a:p>
            <a:pPr marL="0" marR="0">
              <a:lnSpc>
                <a:spcPts val="1601"/>
              </a:lnSpc>
              <a:spcBef>
                <a:spcPts val="21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Speed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07995" y="4976915"/>
            <a:ext cx="1617662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Hardware-Based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36795" y="4976915"/>
            <a:ext cx="1521122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Software-Based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07995" y="5447716"/>
            <a:ext cx="922198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Very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fast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836795" y="5447716"/>
            <a:ext cx="756833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Slower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9195" y="5918518"/>
            <a:ext cx="865816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Security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07995" y="5918518"/>
            <a:ext cx="3562845" cy="5154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Very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high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(isolated)</a:t>
            </a:r>
            <a:r>
              <a:rPr dirty="0" sz="1600" spc="393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Medium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(depends</a:t>
            </a:r>
          </a:p>
          <a:p>
            <a:pPr marL="182880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OS)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79195" y="6663271"/>
            <a:ext cx="530632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Cost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007995" y="6663271"/>
            <a:ext cx="744041" cy="7122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Higher</a:t>
            </a:r>
          </a:p>
          <a:p>
            <a:pPr marL="0" marR="0">
              <a:lnSpc>
                <a:spcPts val="1601"/>
              </a:lnSpc>
              <a:spcBef>
                <a:spcPts val="21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836795" y="6663271"/>
            <a:ext cx="1334982" cy="7122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Lower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free</a:t>
            </a:r>
          </a:p>
          <a:p>
            <a:pPr marL="0" marR="0">
              <a:lnSpc>
                <a:spcPts val="1601"/>
              </a:lnSpc>
              <a:spcBef>
                <a:spcPts val="21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Easy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79195" y="7134073"/>
            <a:ext cx="1429266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Easy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update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9195" y="7604875"/>
            <a:ext cx="2355375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Risk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from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malware</a:t>
            </a:r>
            <a:r>
              <a:rPr dirty="0" sz="1600" spc="1041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Low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836795" y="7604875"/>
            <a:ext cx="560883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High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1032510" y="7113625"/>
            <a:ext cx="5718492" cy="46762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994410" y="915987"/>
            <a:ext cx="5794692" cy="543826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3000" y="1079399"/>
            <a:ext cx="3639523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Real-Life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Applications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(Where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It’s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Used)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3510" y="1628399"/>
            <a:ext cx="5162311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Secure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storage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External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SSDs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with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built-in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13510" y="2004738"/>
            <a:ext cx="4473181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Banking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&amp;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payments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HSMs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protect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credit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card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93215" y="2339709"/>
            <a:ext cx="1269406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transactions.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13510" y="2655028"/>
            <a:ext cx="5178853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Company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security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Protecting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login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systems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digital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93215" y="2989999"/>
            <a:ext cx="1154013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certificates.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13510" y="3305319"/>
            <a:ext cx="4636148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Identity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verification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–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Smart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cards,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passports,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93215" y="3640290"/>
            <a:ext cx="1669710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tokens.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3000" y="4315194"/>
            <a:ext cx="4085547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What’s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Coming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Next?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(Future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Developments)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13510" y="4734019"/>
            <a:ext cx="4948221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More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everyday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devices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(laptops,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phones,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tablets)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will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93215" y="5068990"/>
            <a:ext cx="3629980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include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default.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13510" y="5384309"/>
            <a:ext cx="5161231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Better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protection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against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physical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attacks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(like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trying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93215" y="5719280"/>
            <a:ext cx="2225258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freeze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scan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chip).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13510" y="6034600"/>
            <a:ext cx="5276713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Stronger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without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slowing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down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performance.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13510" y="6410939"/>
            <a:ext cx="5344868" cy="308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Segoe UI Symbol"/>
                <a:cs typeface="Segoe UI Symbol"/>
              </a:rPr>
              <a:t>•</a:t>
            </a:r>
            <a:r>
              <a:rPr dirty="0" sz="16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Easier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for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regular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people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use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without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needing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technical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93215" y="6745910"/>
            <a:ext cx="1145860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knowledge.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43000" y="7238937"/>
            <a:ext cx="1467288" cy="2414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Final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4f81bd"/>
                </a:solidFill>
                <a:latin typeface="Cambria Math"/>
                <a:cs typeface="Cambria Math"/>
              </a:rPr>
              <a:t>Summary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43000" y="7784669"/>
            <a:ext cx="5587946" cy="1063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Hardware-based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like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having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tiny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bodyguard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inside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your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device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that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handles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all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the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locking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unlocking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of</a:t>
            </a:r>
          </a:p>
          <a:p>
            <a:pPr marL="0" marR="0">
              <a:lnSpc>
                <a:spcPts val="1601"/>
              </a:lnSpc>
              <a:spcBef>
                <a:spcPts val="50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your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secrets.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It’s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faster,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safer,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and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harder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to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hack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than</a:t>
            </a:r>
          </a:p>
          <a:p>
            <a:pPr marL="0" marR="0">
              <a:lnSpc>
                <a:spcPts val="1601"/>
              </a:lnSpc>
              <a:spcBef>
                <a:spcPts val="555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software-based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0000"/>
                </a:solidFill>
                <a:latin typeface="Cambria Math"/>
                <a:cs typeface="Cambria Math"/>
              </a:rPr>
              <a:t>encryption.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app</dc:creator>
  <cp:lastModifiedBy>app</cp:lastModifiedBy>
  <cp:revision>1</cp:revision>
  <dcterms:modified xsi:type="dcterms:W3CDTF">2026-04-14T13:59:40+00:00</dcterms:modified>
</cp:coreProperties>
</file>